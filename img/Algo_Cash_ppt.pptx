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  <p:sldId id="260" r:id="rId11"/>
  </p:sldIdLst>
  <p:sldSz cx="18288000" cy="10287000"/>
  <p:notesSz cx="6858000" cy="9144000"/>
  <p:embeddedFontLs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2" autoAdjust="0"/>
  </p:normalViewPr>
  <p:slideViewPr>
    <p:cSldViewPr>
      <p:cViewPr varScale="1">
        <p:scale>
          <a:sx n="51" d="100"/>
          <a:sy n="51" d="100"/>
        </p:scale>
        <p:origin x="244" y="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9992" y="-1680508"/>
            <a:ext cx="13648016" cy="136480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40768" y="-164456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67381" y="-633119"/>
            <a:ext cx="11553237" cy="1155323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767198" y="114300"/>
            <a:ext cx="12625595" cy="1533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66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7E241E-5BB5-C05F-1BF8-010EA919C146}"/>
              </a:ext>
            </a:extLst>
          </p:cNvPr>
          <p:cNvSpPr txBox="1"/>
          <p:nvPr/>
        </p:nvSpPr>
        <p:spPr>
          <a:xfrm>
            <a:off x="1496566" y="3964042"/>
            <a:ext cx="1643353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600" dirty="0"/>
              <a:t> Imagine a payment system that works without internet.</a:t>
            </a:r>
          </a:p>
          <a:p>
            <a:pPr marL="342900" indent="-342900">
              <a:buFont typeface="+mj-lt"/>
              <a:buAutoNum type="arabicPeriod"/>
            </a:pP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Just like handing over a paper note — scan a QR, transfer value instantly.</a:t>
            </a:r>
          </a:p>
          <a:p>
            <a:pPr marL="342900" indent="-342900">
              <a:buFont typeface="+mj-lt"/>
              <a:buAutoNum type="arabicPeriod"/>
            </a:pP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Current digital payments fail in offline, gift, or trustless scenarios.</a:t>
            </a:r>
          </a:p>
          <a:p>
            <a:pPr marL="342900" indent="-342900">
              <a:buFont typeface="+mj-lt"/>
              <a:buAutoNum type="arabicPeriod"/>
            </a:pPr>
            <a:endParaRPr lang="en-US" sz="3600" dirty="0"/>
          </a:p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Opportunity: </a:t>
            </a:r>
            <a:r>
              <a:rPr lang="en-US" sz="3600" dirty="0"/>
              <a:t>Digital cash that is:</a:t>
            </a:r>
            <a:br>
              <a:rPr lang="en-US" sz="3600" dirty="0"/>
            </a:br>
            <a:r>
              <a:rPr lang="en-US" sz="3600" dirty="0"/>
              <a:t>Portable like physical money</a:t>
            </a:r>
            <a:br>
              <a:rPr lang="en-US" sz="3600" dirty="0"/>
            </a:br>
            <a:r>
              <a:rPr lang="en-US" sz="3600" dirty="0"/>
              <a:t>Transferable via QR codes</a:t>
            </a:r>
            <a:br>
              <a:rPr lang="en-US" sz="3600" dirty="0"/>
            </a:br>
            <a:r>
              <a:rPr lang="en-US" sz="3600" dirty="0"/>
              <a:t>Verifiable on blockchain when redeemed</a:t>
            </a:r>
            <a:endParaRPr lang="en-IN" sz="3600" dirty="0"/>
          </a:p>
          <a:p>
            <a:pPr marL="342900" indent="-342900">
              <a:buFont typeface="+mj-lt"/>
              <a:buAutoNum type="arabicPeriod"/>
            </a:pPr>
            <a:endParaRPr lang="en-US" sz="3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98824B4-46FE-856A-6BC2-D2D004105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0" y="185620"/>
            <a:ext cx="3456539" cy="12913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C48B6BF-02AA-10F2-9A43-E0C5454DA047}"/>
              </a:ext>
            </a:extLst>
          </p:cNvPr>
          <p:cNvSpPr txBox="1"/>
          <p:nvPr/>
        </p:nvSpPr>
        <p:spPr>
          <a:xfrm>
            <a:off x="3885719" y="2247900"/>
            <a:ext cx="113082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AlgoCash</a:t>
            </a:r>
            <a:r>
              <a:rPr lang="en-US" sz="3200" dirty="0"/>
              <a:t> turns digital money into cash-like QR notes — enabling instant, secure, and even offline payments on </a:t>
            </a:r>
            <a:r>
              <a:rPr lang="en-US" sz="3200" dirty="0" err="1"/>
              <a:t>Algorand</a:t>
            </a:r>
            <a:r>
              <a:rPr lang="en-US" sz="3200" dirty="0"/>
              <a:t>.</a:t>
            </a:r>
            <a:endParaRPr lang="en-I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4"/>
          <p:cNvSpPr/>
          <p:nvPr/>
        </p:nvSpPr>
        <p:spPr>
          <a:xfrm>
            <a:off x="8842984" y="3089826"/>
            <a:ext cx="2057134" cy="32774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8842984" y="5143500"/>
            <a:ext cx="2057134" cy="0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flipV="1">
            <a:off x="8914575" y="7200900"/>
            <a:ext cx="2259724" cy="15181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3" name="Group 43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6BE44BF-7820-A323-927D-2C4C749BE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82096"/>
            <a:ext cx="2819400" cy="105333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F9B320D8-4592-5B91-06CF-BCAF51E382CD}"/>
              </a:ext>
            </a:extLst>
          </p:cNvPr>
          <p:cNvSpPr txBox="1"/>
          <p:nvPr/>
        </p:nvSpPr>
        <p:spPr>
          <a:xfrm>
            <a:off x="5562600" y="1373465"/>
            <a:ext cx="1173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accent1">
                    <a:lumMod val="75000"/>
                  </a:schemeClr>
                </a:solidFill>
              </a:rPr>
              <a:t>Project Features: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84A7A7-9F69-0BC2-2FC3-CA999CD78DCA}"/>
              </a:ext>
            </a:extLst>
          </p:cNvPr>
          <p:cNvSpPr txBox="1"/>
          <p:nvPr/>
        </p:nvSpPr>
        <p:spPr>
          <a:xfrm>
            <a:off x="915760" y="2782322"/>
            <a:ext cx="17221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Digital Cash Minting </a:t>
            </a:r>
            <a:r>
              <a:rPr lang="en-IN" sz="3600" dirty="0"/>
              <a:t>– Users deposit ALGO and mint secure, encrypted notes.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/>
          </a:p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QR Code Integration </a:t>
            </a:r>
            <a:r>
              <a:rPr lang="en-IN" sz="3600" dirty="0"/>
              <a:t>– Each note becomes instantly shareable.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/>
          </a:p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Double-Spend Prevention </a:t>
            </a:r>
            <a:r>
              <a:rPr lang="en-IN" sz="3600" dirty="0"/>
              <a:t>– Notes marked as “USED” on redemption.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/>
          </a:p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Multiple Denominations</a:t>
            </a:r>
            <a:r>
              <a:rPr lang="en-IN" sz="3600" dirty="0"/>
              <a:t> – 1, 2, 5, 10 ALGO notes for flexibility.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/>
          </a:p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Liquidity Pool </a:t>
            </a:r>
            <a:r>
              <a:rPr lang="en-IN" sz="3600" dirty="0"/>
              <a:t>– Automated fund management ensures smooth withdrawals.</a:t>
            </a:r>
          </a:p>
          <a:p>
            <a:pPr marL="342900" indent="-342900">
              <a:buFont typeface="+mj-lt"/>
              <a:buAutoNum type="arabicPeriod"/>
            </a:pPr>
            <a:endParaRPr lang="en-IN" sz="3600" dirty="0"/>
          </a:p>
          <a:p>
            <a:pPr marL="342900" indent="-342900">
              <a:buFont typeface="+mj-lt"/>
              <a:buAutoNum type="arabicPeriod"/>
            </a:pPr>
            <a:r>
              <a:rPr lang="en-IN" sz="3600" b="1" dirty="0"/>
              <a:t>Clean User Interfaces </a:t>
            </a:r>
            <a:r>
              <a:rPr lang="en-IN" sz="3600" dirty="0"/>
              <a:t>– Full-featured management app + lightweight public claim 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20600" y="405714"/>
            <a:ext cx="3948976" cy="81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896746D-A59A-7B38-D836-B61031C38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E5BDF36-9E8E-5D07-B9B9-559465C7CCC4}"/>
              </a:ext>
            </a:extLst>
          </p:cNvPr>
          <p:cNvSpPr txBox="1"/>
          <p:nvPr/>
        </p:nvSpPr>
        <p:spPr>
          <a:xfrm>
            <a:off x="2486765" y="1866900"/>
            <a:ext cx="1421182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Smart Contract (</a:t>
            </a:r>
            <a:r>
              <a:rPr lang="en-IN" sz="3600" b="1" dirty="0" err="1"/>
              <a:t>Algorand</a:t>
            </a:r>
            <a:r>
              <a:rPr lang="en-IN" sz="3600" b="1" dirty="0"/>
              <a:t> TEAL):</a:t>
            </a:r>
            <a:br>
              <a:rPr lang="en-IN" sz="3600" b="1" dirty="0"/>
            </a:br>
            <a:r>
              <a:rPr lang="en-IN" sz="3600" dirty="0"/>
              <a:t>Stores encrypted codes, tracks note status, prevents reuse.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Backend (Node.js + TypeScript):</a:t>
            </a:r>
            <a:br>
              <a:rPr lang="en-IN" sz="3600" b="1" dirty="0"/>
            </a:br>
            <a:r>
              <a:rPr lang="en-IN" sz="3600" dirty="0"/>
              <a:t>Liquidity pool monitoring, contract scripts, automation.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Frontend (React + Tailwind):</a:t>
            </a:r>
            <a:br>
              <a:rPr lang="en-IN" sz="3600" b="1" dirty="0"/>
            </a:br>
            <a:r>
              <a:rPr lang="en-IN" sz="3600" dirty="0"/>
              <a:t>Full management dashboard for minting and tracking notes.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Claim Site (React mini-app):</a:t>
            </a:r>
            <a:br>
              <a:rPr lang="en-IN" sz="3600" b="1" dirty="0"/>
            </a:br>
            <a:r>
              <a:rPr lang="en-IN" sz="3600" dirty="0"/>
              <a:t>Scan QR → Enter wallet → Claim instantly.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Blockchain Layer (</a:t>
            </a:r>
            <a:r>
              <a:rPr lang="en-IN" sz="3600" b="1" dirty="0" err="1"/>
              <a:t>Algorand</a:t>
            </a:r>
            <a:r>
              <a:rPr lang="en-IN" sz="3600" b="1" dirty="0"/>
              <a:t>):</a:t>
            </a:r>
            <a:br>
              <a:rPr lang="en-IN" sz="3600" b="1" dirty="0"/>
            </a:br>
            <a:r>
              <a:rPr lang="en-IN" sz="3600" dirty="0"/>
              <a:t>Fast, low-fee, secure, immutable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49502" y="568463"/>
            <a:ext cx="10884553" cy="785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IN" sz="4800" b="1" dirty="0"/>
              <a:t>Business Model &amp; GTM (Go-To-Market)</a:t>
            </a:r>
            <a:endParaRPr lang="en-US" sz="4560" b="1" dirty="0">
              <a:solidFill>
                <a:srgbClr val="1F20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272A7B89-1ABA-507C-568B-318B1DBFC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18E1CA75-E25B-5853-F973-31167B92693A}"/>
              </a:ext>
            </a:extLst>
          </p:cNvPr>
          <p:cNvSpPr txBox="1"/>
          <p:nvPr/>
        </p:nvSpPr>
        <p:spPr>
          <a:xfrm>
            <a:off x="990600" y="1883283"/>
            <a:ext cx="158496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Revenue Streams:</a:t>
            </a:r>
            <a:br>
              <a:rPr lang="en-IN" sz="3600" dirty="0"/>
            </a:br>
            <a:r>
              <a:rPr lang="en-IN" sz="3600" dirty="0"/>
              <a:t>Small transaction/withdrawal fees.</a:t>
            </a:r>
            <a:br>
              <a:rPr lang="en-IN" sz="3600" dirty="0"/>
            </a:br>
            <a:r>
              <a:rPr lang="en-IN" sz="3600" dirty="0"/>
              <a:t>Branded partnerships (events, merchants, gift cards).</a:t>
            </a:r>
            <a:br>
              <a:rPr lang="en-IN" sz="3600" dirty="0"/>
            </a:br>
            <a:r>
              <a:rPr lang="en-IN" sz="3600" dirty="0"/>
              <a:t>API/SDK licensing for third-party integration.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Target Markets:</a:t>
            </a:r>
            <a:br>
              <a:rPr lang="en-IN" sz="3600" dirty="0"/>
            </a:br>
            <a:r>
              <a:rPr lang="en-IN" sz="3600" dirty="0"/>
              <a:t>Events &amp; Ticketing – secure QR-based ticket redemption.</a:t>
            </a:r>
            <a:br>
              <a:rPr lang="en-IN" sz="3600" dirty="0"/>
            </a:br>
            <a:r>
              <a:rPr lang="en-IN" sz="3600" dirty="0"/>
              <a:t>Retail &amp; Loyalty – ALGO notes as gift cards or loyalty points.</a:t>
            </a:r>
            <a:br>
              <a:rPr lang="en-IN" sz="3600" dirty="0"/>
            </a:br>
            <a:r>
              <a:rPr lang="en-IN" sz="3600" dirty="0"/>
              <a:t>Micro-payments – content creators &amp; small transactions.</a:t>
            </a:r>
          </a:p>
          <a:p>
            <a:pPr marL="742950" indent="-742950">
              <a:buFont typeface="+mj-lt"/>
              <a:buAutoNum type="arabicPeriod"/>
            </a:pPr>
            <a:endParaRPr lang="en-IN" sz="3600" dirty="0"/>
          </a:p>
          <a:p>
            <a:pPr marL="742950" indent="-742950">
              <a:buFont typeface="+mj-lt"/>
              <a:buAutoNum type="arabicPeriod"/>
            </a:pPr>
            <a:r>
              <a:rPr lang="en-IN" sz="3600" b="1" dirty="0"/>
              <a:t>Go-To-Market Strategy:</a:t>
            </a:r>
            <a:br>
              <a:rPr lang="en-IN" sz="3600" dirty="0"/>
            </a:br>
            <a:r>
              <a:rPr lang="en-IN" sz="3600" dirty="0"/>
              <a:t>Launch on </a:t>
            </a:r>
            <a:r>
              <a:rPr lang="en-IN" sz="3600" dirty="0" err="1"/>
              <a:t>Algorand</a:t>
            </a:r>
            <a:r>
              <a:rPr lang="en-IN" sz="3600" dirty="0"/>
              <a:t> </a:t>
            </a:r>
            <a:r>
              <a:rPr lang="en-IN" sz="3600" dirty="0" err="1"/>
              <a:t>TestNet</a:t>
            </a:r>
            <a:r>
              <a:rPr lang="en-IN" sz="3600" dirty="0"/>
              <a:t> → </a:t>
            </a:r>
            <a:r>
              <a:rPr lang="en-IN" sz="3600" dirty="0" err="1"/>
              <a:t>MainNet</a:t>
            </a:r>
            <a:r>
              <a:rPr lang="en-IN" sz="3600" dirty="0"/>
              <a:t>.</a:t>
            </a:r>
            <a:br>
              <a:rPr lang="en-IN" sz="3600" dirty="0"/>
            </a:br>
            <a:r>
              <a:rPr lang="en-IN" sz="3600" dirty="0"/>
              <a:t>Partner with </a:t>
            </a:r>
            <a:r>
              <a:rPr lang="en-IN" sz="3600" dirty="0" err="1"/>
              <a:t>Algorand</a:t>
            </a:r>
            <a:r>
              <a:rPr lang="en-IN" sz="3600" dirty="0"/>
              <a:t> ecosystem projects &amp; events.</a:t>
            </a:r>
            <a:br>
              <a:rPr lang="en-IN" sz="3600" dirty="0"/>
            </a:br>
            <a:r>
              <a:rPr lang="en-IN" sz="3600" dirty="0"/>
              <a:t>Early adoption through hackathons, dev communities, and pilot merchants.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D7FDF-964F-55E9-CB69-AFE4484D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695E3C-8336-45FF-689B-28C77459EE16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8354D1-E394-7660-3D70-A13EB6136ED2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2EC354-BFEA-7AFA-81CC-467CEBC81F93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FC95204-D41F-477D-66BD-CA03F2DEF947}"/>
              </a:ext>
            </a:extLst>
          </p:cNvPr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DFD4F581-1DE1-852C-DB10-8FC2A22E8F6F}"/>
              </a:ext>
            </a:extLst>
          </p:cNvPr>
          <p:cNvSpPr txBox="1"/>
          <p:nvPr/>
        </p:nvSpPr>
        <p:spPr>
          <a:xfrm>
            <a:off x="3549502" y="568463"/>
            <a:ext cx="10884553" cy="785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IN" sz="4800" b="1" dirty="0"/>
              <a:t>Future Plans</a:t>
            </a:r>
            <a:endParaRPr lang="en-US" sz="4560" b="1" dirty="0">
              <a:solidFill>
                <a:srgbClr val="1F20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EC1BDABC-5B02-F860-F64C-E62E87A6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9E74BEE4-1B92-F82D-7A46-A5C0DB2F7498}"/>
              </a:ext>
            </a:extLst>
          </p:cNvPr>
          <p:cNvSpPr txBox="1"/>
          <p:nvPr/>
        </p:nvSpPr>
        <p:spPr>
          <a:xfrm>
            <a:off x="990600" y="1883283"/>
            <a:ext cx="158496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200" b="1" dirty="0"/>
              <a:t>Dynamic QR Codes:</a:t>
            </a:r>
            <a:br>
              <a:rPr lang="en-IN" sz="3200" dirty="0"/>
            </a:br>
            <a:r>
              <a:rPr lang="en-IN" sz="3200" dirty="0"/>
              <a:t>Generate one-time or variable-value QR codes for flexible payments.</a:t>
            </a:r>
          </a:p>
          <a:p>
            <a:pPr marL="742950" indent="-742950">
              <a:buFont typeface="+mj-lt"/>
              <a:buAutoNum type="arabicPeriod"/>
            </a:pPr>
            <a:endParaRPr lang="en-IN" sz="3200" dirty="0"/>
          </a:p>
          <a:p>
            <a:pPr marL="742950" indent="-742950">
              <a:buFont typeface="+mj-lt"/>
              <a:buAutoNum type="arabicPeriod"/>
            </a:pPr>
            <a:r>
              <a:rPr lang="en-IN" sz="3200" b="1" dirty="0"/>
              <a:t>NFC / RFID Payment Cards:</a:t>
            </a:r>
            <a:br>
              <a:rPr lang="en-IN" sz="3200" dirty="0"/>
            </a:br>
            <a:r>
              <a:rPr lang="en-IN" sz="3200" dirty="0"/>
              <a:t>Physical cards linked to </a:t>
            </a:r>
            <a:r>
              <a:rPr lang="en-IN" sz="3200" dirty="0" err="1"/>
              <a:t>Algorand</a:t>
            </a:r>
            <a:r>
              <a:rPr lang="en-IN" sz="3200" dirty="0"/>
              <a:t> notes, allowing tap-to-pay for different amounts.</a:t>
            </a:r>
          </a:p>
          <a:p>
            <a:pPr marL="742950" indent="-742950">
              <a:buFont typeface="+mj-lt"/>
              <a:buAutoNum type="arabicPeriod"/>
            </a:pPr>
            <a:endParaRPr lang="en-IN" sz="3200" dirty="0"/>
          </a:p>
          <a:p>
            <a:pPr marL="742950" indent="-742950">
              <a:buFont typeface="+mj-lt"/>
              <a:buAutoNum type="arabicPeriod"/>
            </a:pPr>
            <a:r>
              <a:rPr lang="en-IN" sz="3200" b="1" dirty="0"/>
              <a:t>Universal QR Device:</a:t>
            </a:r>
            <a:br>
              <a:rPr lang="en-IN" sz="3200" dirty="0"/>
            </a:br>
            <a:r>
              <a:rPr lang="en-IN" sz="3200" dirty="0"/>
              <a:t>A single portable device that can generate and display secure QR codes for all transactions.</a:t>
            </a:r>
          </a:p>
          <a:p>
            <a:pPr marL="742950" indent="-742950">
              <a:buFont typeface="+mj-lt"/>
              <a:buAutoNum type="arabicPeriod"/>
            </a:pPr>
            <a:endParaRPr lang="en-IN" sz="3200" dirty="0"/>
          </a:p>
          <a:p>
            <a:pPr marL="742950" indent="-742950">
              <a:buFont typeface="+mj-lt"/>
              <a:buAutoNum type="arabicPeriod"/>
            </a:pPr>
            <a:r>
              <a:rPr lang="en-IN" sz="3200" b="1" dirty="0"/>
              <a:t>Mobile App Integration:</a:t>
            </a:r>
            <a:br>
              <a:rPr lang="en-IN" sz="3200" dirty="0"/>
            </a:br>
            <a:r>
              <a:rPr lang="en-IN" sz="3200" dirty="0"/>
              <a:t>Native iOS/Android app for minting, storing, and redeeming notes offline.</a:t>
            </a:r>
          </a:p>
          <a:p>
            <a:pPr marL="742950" indent="-742950">
              <a:buFont typeface="+mj-lt"/>
              <a:buAutoNum type="arabicPeriod"/>
            </a:pPr>
            <a:endParaRPr lang="en-IN" sz="3200" dirty="0"/>
          </a:p>
          <a:p>
            <a:pPr marL="742950" indent="-742950">
              <a:buFont typeface="+mj-lt"/>
              <a:buAutoNum type="arabicPeriod"/>
            </a:pPr>
            <a:r>
              <a:rPr lang="en-IN" sz="3200" b="1" dirty="0"/>
              <a:t>Multi-Asset Support:</a:t>
            </a:r>
            <a:br>
              <a:rPr lang="en-IN" sz="3200" dirty="0"/>
            </a:br>
            <a:r>
              <a:rPr lang="en-IN" sz="3200" dirty="0"/>
              <a:t>Extend beyond ALGO to support other </a:t>
            </a:r>
            <a:r>
              <a:rPr lang="en-IN" sz="3200" dirty="0" err="1"/>
              <a:t>Algorand</a:t>
            </a:r>
            <a:r>
              <a:rPr lang="en-IN" sz="3200" dirty="0"/>
              <a:t> Standard Assets (ASAs).</a:t>
            </a:r>
          </a:p>
        </p:txBody>
      </p:sp>
    </p:spTree>
    <p:extLst>
      <p:ext uri="{BB962C8B-B14F-4D97-AF65-F5344CB8AC3E}">
        <p14:creationId xmlns:p14="http://schemas.microsoft.com/office/powerpoint/2010/main" val="216374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CA85-4D22-63EE-90FA-3A9BD6C9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utoShape 62">
            <a:extLst>
              <a:ext uri="{FF2B5EF4-FFF2-40B4-BE49-F238E27FC236}">
                <a16:creationId xmlns:a16="http://schemas.microsoft.com/office/drawing/2014/main" id="{2839B590-8CBA-E5E1-17BC-C66BC57C6728}"/>
              </a:ext>
            </a:extLst>
          </p:cNvPr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27C4C-EC2E-DDD0-0842-6423B60EC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0500"/>
            <a:ext cx="10363200" cy="966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66D4-2662-20AE-B1D9-27072B47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1CF54D-7A55-4A61-1B8A-817CDAFE39CF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32CA7C-A580-E300-FDFA-FF754BF9981E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5BD872-F1F1-F416-1544-A93D1BDB3DD6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FB74BB58-0482-B148-53A2-A15426FFA247}"/>
              </a:ext>
            </a:extLst>
          </p:cNvPr>
          <p:cNvSpPr txBox="1"/>
          <p:nvPr/>
        </p:nvSpPr>
        <p:spPr>
          <a:xfrm>
            <a:off x="5346047" y="723900"/>
            <a:ext cx="7595905" cy="77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69E7CDE7-5215-950B-8ACD-B30E27D7775E}"/>
              </a:ext>
            </a:extLst>
          </p:cNvPr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1E2CC-FB07-74A9-3821-ED785B773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19" y="2781300"/>
            <a:ext cx="8669851" cy="502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249B02-65A4-46D9-D8FF-31F196C19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291EA1-36C8-64BF-64CA-98AC63192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218" y="1901876"/>
            <a:ext cx="8844782" cy="696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0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0F507-EFE1-41C0-DD13-106FA6C4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F1B22D-3CE0-245C-532D-C479AE910330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BE8EEE0-8E66-AB9C-8477-EB2C7088C865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3C1072B-7EB5-8007-D824-E7B8C061BC7F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366EE336-5D4C-92A9-6A93-13E6DA5B4913}"/>
              </a:ext>
            </a:extLst>
          </p:cNvPr>
          <p:cNvSpPr txBox="1"/>
          <p:nvPr/>
        </p:nvSpPr>
        <p:spPr>
          <a:xfrm>
            <a:off x="5346047" y="723900"/>
            <a:ext cx="7595905" cy="77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DCA2FACD-8070-48C6-4B0A-77AF77B19F81}"/>
              </a:ext>
            </a:extLst>
          </p:cNvPr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5574D-476D-71D0-3FED-1DA77EBF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1655783"/>
            <a:ext cx="5840374" cy="7214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02FF7E-7979-8612-DDA3-B52EFCD86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90" y="2019300"/>
            <a:ext cx="8889348" cy="57046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2EB2E8-6FD1-F6AC-9749-D41DD6C87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0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67A8-3E3A-C848-D5C9-BC387356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7896AF-B3EB-0E8F-5806-6AC70383AC12}"/>
              </a:ext>
            </a:extLst>
          </p:cNvPr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1BDC0B-1446-B3C7-1953-85083ECE2FAA}"/>
                </a:ext>
              </a:extLst>
            </p:cNvPr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436426-7ECA-3B42-C2E2-8331C7DF853C}"/>
                </a:ext>
              </a:extLst>
            </p:cNvPr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E376E890-1978-8D4B-4905-249CAD16C84F}"/>
              </a:ext>
            </a:extLst>
          </p:cNvPr>
          <p:cNvSpPr txBox="1"/>
          <p:nvPr/>
        </p:nvSpPr>
        <p:spPr>
          <a:xfrm>
            <a:off x="5346047" y="723900"/>
            <a:ext cx="7595905" cy="77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 dirty="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33BEBD05-9E9E-3867-433A-45E411DE367E}"/>
              </a:ext>
            </a:extLst>
          </p:cNvPr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w="28575" cap="flat">
            <a:solidFill>
              <a:srgbClr val="F8F8F8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4907D-B93B-1E3D-DD30-AB9696BD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723900"/>
            <a:ext cx="4212748" cy="9130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DB60B3-30CE-4920-60EA-2358656CD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5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91799" y="8458418"/>
            <a:ext cx="951769" cy="799882"/>
            <a:chOff x="0" y="0"/>
            <a:chExt cx="96714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7140" cy="812800"/>
            </a:xfrm>
            <a:custGeom>
              <a:avLst/>
              <a:gdLst/>
              <a:ahLst/>
              <a:cxnLst/>
              <a:rect l="l" t="t" r="r" b="b"/>
              <a:pathLst>
                <a:path w="967140" h="81280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674380" y="8710688"/>
            <a:ext cx="442747" cy="25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292826" y="1028700"/>
            <a:ext cx="13648016" cy="1364801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613602" y="2544752"/>
            <a:ext cx="11725929" cy="11711272"/>
          </a:xfrm>
          <a:custGeom>
            <a:avLst/>
            <a:gdLst/>
            <a:ahLst/>
            <a:cxnLst/>
            <a:rect l="l" t="t" r="r" b="b"/>
            <a:pathLst>
              <a:path w="11725929" h="11711272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40216" y="2076089"/>
            <a:ext cx="11553237" cy="115532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955480" y="3747894"/>
            <a:ext cx="6322709" cy="320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160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1950"/>
              </a:lnSpc>
            </a:pPr>
            <a:r>
              <a:rPr lang="en-US" sz="11602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84590" y="7263303"/>
            <a:ext cx="6318820" cy="46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dirty="0" err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AlgoCash</a:t>
            </a:r>
            <a:endParaRPr lang="en-US" sz="2699" b="1" dirty="0">
              <a:solidFill>
                <a:srgbClr val="1F20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90054" y="8343238"/>
            <a:ext cx="445356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C6C3C3-0ED3-573B-7A27-060DCCA0C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91381"/>
            <a:ext cx="2117247" cy="791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463</Words>
  <Application>Microsoft Office PowerPoint</Application>
  <PresentationFormat>Custom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Chinmay Patil</dc:creator>
  <cp:lastModifiedBy>Chinmay Patil</cp:lastModifiedBy>
  <cp:revision>4</cp:revision>
  <dcterms:created xsi:type="dcterms:W3CDTF">2006-08-16T00:00:00Z</dcterms:created>
  <dcterms:modified xsi:type="dcterms:W3CDTF">2025-09-12T09:06:59Z</dcterms:modified>
  <dc:identifier>DAGyRmkJaio</dc:identifier>
</cp:coreProperties>
</file>